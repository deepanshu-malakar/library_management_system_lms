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commentAuthors.xml" ContentType="application/vnd.openxmlformats-officedocument.presentationml.commentAuthor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40" r:id="rId1"/>
  </p:sldMasterIdLst>
  <p:sldIdLst>
    <p:sldId id="270" r:id="rId2"/>
    <p:sldId id="256" r:id="rId3"/>
    <p:sldId id="269" r:id="rId4"/>
    <p:sldId id="257" r:id="rId5"/>
    <p:sldId id="258" r:id="rId6"/>
    <p:sldId id="259" r:id="rId7"/>
    <p:sldId id="260" r:id="rId8"/>
    <p:sldId id="268" r:id="rId9"/>
    <p:sldId id="261" r:id="rId10"/>
    <p:sldId id="262" r:id="rId11"/>
    <p:sldId id="263" r:id="rId12"/>
    <p:sldId id="264" r:id="rId13"/>
    <p:sldId id="26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Default Section" id="{C6E66C70-29CE-4AD3-8B1D-FE53E542EC05}">
          <p14:sldIdLst>
            <p14:sldId id="270"/>
            <p14:sldId id="256"/>
            <p14:sldId id="269"/>
            <p14:sldId id="257"/>
            <p14:sldId id="258"/>
            <p14:sldId id="259"/>
            <p14:sldId id="260"/>
            <p14:sldId id="268"/>
          </p14:sldIdLst>
        </p14:section>
        <p14:section name="Untitled Section" id="{61CE0FD5-84CC-4C1B-9CD7-AD6196733D4F}">
          <p14:sldIdLst>
            <p14:sldId id="261"/>
            <p14:sldId id="262"/>
            <p14:sldId id="263"/>
            <p14:sldId id="264"/>
            <p14:sldId id="265"/>
            <p14:sldId id="267"/>
          </p14:sldIdLst>
        </p14:section>
      </p14:sectionLst>
    </p:ext>
    <p:ext uri="{EFAFB233-063F-42B5-8137-9DF3F51BA10A}">
      <p15:sldGuideLst xmlns:p15="http://schemas.microsoft.com/office/powerpoint/2012/main" xmlns="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" initials="A" lastIdx="0" clrIdx="0">
    <p:extLst>
      <p:ext uri="{19B8F6BF-5375-455C-9EA6-DF929625EA0E}">
        <p15:presenceInfo xmlns:p15="http://schemas.microsoft.com/office/powerpoint/2012/main" xmlns="" userId="6fade6ce306d56e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-528" y="-8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871FB44-5E40-47C4-9B32-C9164A80C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465DFB-4B1B-4AFA-8BF6-B5952CB066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DF9DC21-BE71-46B7-A4EB-5BB89A852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1A0A529-786B-415A-B2D2-632C0AD91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B9F2544-BD51-4B11-A242-5EE3819BB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10871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D45507E-7E5A-4C54-9AE7-0ADFDA105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250B20-B1C7-4CEC-B871-F4A186A5A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0E32BA9-DAA1-4B71-8545-7D5E75FC2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859232F-AD6A-4086-BD30-BB5417E76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10356DB-E884-4ED5-81A9-E6BCB531E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616282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DFC54C4-4ADE-424B-8847-1B19985E4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6B7D0EB-51B8-477F-9640-85C566586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F627899-586B-4DC6-AC67-649BFFCBC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F98DD04-1948-4CBE-86E8-2C94889B1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098EAF3-9D97-4EED-9051-72BC3946C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73172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10932C-24B9-494E-8035-37BE54EE3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139AD46D-6C2F-4C47-BAF2-0801B5A87C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EA0DAFA0-D2A3-4D7F-8392-7DFC129C2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73209C3C-10A0-4A2F-94AD-E27AFEAE2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7E91807-8249-4454-96C6-EE63D362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8FFCE15-5A80-47CC-AC07-5A8368B25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03839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84E8F2B-5530-4983-B0FE-F90AEF347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545AEA3-D2C7-488A-8468-7C71EBF97F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01FA69F5-4DD8-46FC-AA9D-548982A19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31F130FA-436D-44A5-ADBE-D810949F6F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D29133A2-B9F3-4696-8FDA-56C8E69186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CAF8C78-B424-4F3F-A325-5419E03B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0491EB81-A548-4249-90FF-FB475F910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44394BF6-E687-4C65-A25E-28FFB424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185388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4788F1E-CFF4-4C68-A931-97067F508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BD68DA3-9F3F-456A-980B-866BDF4DD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5594EA2-4C3E-4CC7-A77B-AA9485E4E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4DF9F25-49B0-4829-960E-3895F223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743281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8DF975C5-A443-4958-9DC1-914EBF6A9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FAF1B9EE-1584-4CAF-B3EF-350944586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0357C50-7E62-48E6-9FC7-2DBD13F3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3514773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95E5B06-BA91-4A1C-94B0-3014F55DE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3C733C5-885B-4625-8620-8A86DA84CD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51D0681-CF0F-4D07-A0F4-1B563DBA54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B902C0A3-9142-4BD7-B338-382D0922D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2C830814-54CC-4881-9E3D-FF43BEB62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26F57DD-8550-424C-8B24-3C6313769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545281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911307-9159-4D2E-AEC8-14E151D5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3ADF2D0A-D246-4C12-9E57-441713CEA3B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F42580C9-14B1-46C4-9D89-6FD2FCED58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D13A847-1B23-4768-A147-610FD154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D98F79C6-8B71-4230-B124-5B9A1563B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D4B732E-1A00-4BEE-BA65-1706E1D34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884979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D1AB558-0D7A-4427-8B80-FFD43464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780D9BD-E096-4625-B605-8575238E6A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C8EA7B1-F80F-4210-896A-60847307C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4D60C9B-5458-4763-AD72-0ACBBDED1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C4AE243-BECB-471B-83F7-E2CEAE020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26912172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3170F78-CD34-484A-8A55-FBC7B6CEA3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24EA2C1B-6487-4679-B673-EB8EBCCADA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D067838-DE2D-4556-837D-02A836900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7A59AC4-5417-402E-A9AB-F9D597266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80C7F26-37DD-4494-90E0-F7EAC259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705049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3FBF65AB-1EA1-4392-9AC3-896799D14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9A69C37C-BFC8-4883-A0AB-205E9AEA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9056F86-9A6A-478F-86D1-300EBFC15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6A0F9-456E-4118-AFD6-63FA03E264B8}" type="datetimeFigureOut">
              <a:rPr lang="en-IN" smtClean="0"/>
              <a:pPr/>
              <a:t>03-11-2025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F0B2D9DE-BF84-4D5E-9A4A-557E2E6B38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F23AE7A-5014-471E-9254-43DD4BB189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A16CF-4ADA-4733-A344-26CF4449A27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1003980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  <p:sldLayoutId id="2147483942" r:id="rId2"/>
    <p:sldLayoutId id="2147483943" r:id="rId3"/>
    <p:sldLayoutId id="2147483944" r:id="rId4"/>
    <p:sldLayoutId id="2147483945" r:id="rId5"/>
    <p:sldLayoutId id="2147483946" r:id="rId6"/>
    <p:sldLayoutId id="2147483947" r:id="rId7"/>
    <p:sldLayoutId id="2147483948" r:id="rId8"/>
    <p:sldLayoutId id="2147483949" r:id="rId9"/>
    <p:sldLayoutId id="2147483950" r:id="rId10"/>
    <p:sldLayoutId id="21474839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xmlns="" id="{915DA598-0AAF-4979-8DF1-AB4C555302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479130" y="648354"/>
            <a:ext cx="2435017" cy="2435017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BB2FB7AF-BF7E-4024-A4C2-983BD80C6058}"/>
              </a:ext>
            </a:extLst>
          </p:cNvPr>
          <p:cNvSpPr/>
          <p:nvPr/>
        </p:nvSpPr>
        <p:spPr>
          <a:xfrm>
            <a:off x="417094" y="3429000"/>
            <a:ext cx="11470105" cy="15426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697355" indent="-1389380">
              <a:lnSpc>
                <a:spcPct val="126000"/>
              </a:lnSpc>
              <a:spcAft>
                <a:spcPts val="0"/>
              </a:spcAft>
            </a:pPr>
            <a:r>
              <a:rPr lang="en-US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Indian Institute of Information Technology, Design and Manufacturing, Kurnool</a:t>
            </a:r>
            <a:endParaRPr lang="en-IN" sz="24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/>
            </a:r>
            <a:br>
              <a:rPr lang="en-US" sz="32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</a:br>
            <a:endParaRPr lang="en-IN" sz="3200" dirty="0">
              <a:solidFill>
                <a:schemeClr val="accent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75625A63-19F8-4974-A664-5A6D6E11298E}"/>
              </a:ext>
            </a:extLst>
          </p:cNvPr>
          <p:cNvSpPr/>
          <p:nvPr/>
        </p:nvSpPr>
        <p:spPr>
          <a:xfrm>
            <a:off x="-931583" y="4169022"/>
            <a:ext cx="10154653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 marR="15875" algn="ctr">
              <a:spcAft>
                <a:spcPts val="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</a:rPr>
              <a:t>Department:</a:t>
            </a:r>
            <a:r>
              <a:rPr lang="en-US" sz="2400" b="1" spc="35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Computer</a:t>
            </a:r>
            <a:r>
              <a:rPr lang="en-US" sz="2400" spc="195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Science</a:t>
            </a:r>
            <a:r>
              <a:rPr lang="en-US" sz="2400" spc="195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and</a:t>
            </a:r>
            <a:r>
              <a:rPr lang="en-US" sz="2400" spc="200" dirty="0">
                <a:latin typeface="Calibri" panose="020F0502020204030204" pitchFamily="34" charset="0"/>
                <a:ea typeface="Calibri" panose="020F0502020204030204" pitchFamily="34" charset="0"/>
              </a:rPr>
              <a:t> </a:t>
            </a:r>
            <a:r>
              <a:rPr lang="en-US" sz="2400" spc="-10" dirty="0">
                <a:latin typeface="Calibri" panose="020F0502020204030204" pitchFamily="34" charset="0"/>
                <a:ea typeface="Calibri" panose="020F0502020204030204" pitchFamily="34" charset="0"/>
              </a:rPr>
              <a:t>Engineering</a:t>
            </a:r>
            <a:endParaRPr lang="en-US" sz="2400" b="1" kern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  <a:p>
            <a:pPr marL="15875" marR="15875" algn="ctr">
              <a:spcAft>
                <a:spcPts val="0"/>
              </a:spcAft>
            </a:pPr>
            <a:endParaRPr lang="en-IN" b="1" kern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BE12233A-C644-418B-AEC7-30F7B7E39B3F}"/>
              </a:ext>
            </a:extLst>
          </p:cNvPr>
          <p:cNvSpPr/>
          <p:nvPr/>
        </p:nvSpPr>
        <p:spPr>
          <a:xfrm>
            <a:off x="-1210234" y="4676853"/>
            <a:ext cx="10154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 marR="15875" algn="ctr">
              <a:spcAft>
                <a:spcPts val="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</a:rPr>
              <a:t>Course Name: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Software Engineering Practice</a:t>
            </a:r>
            <a:endParaRPr lang="en-IN" kern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E27FAE2-4FF7-4793-A952-DB37199FB582}"/>
              </a:ext>
            </a:extLst>
          </p:cNvPr>
          <p:cNvSpPr/>
          <p:nvPr/>
        </p:nvSpPr>
        <p:spPr>
          <a:xfrm>
            <a:off x="-1138517" y="5244668"/>
            <a:ext cx="10154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 marR="15875" algn="ctr">
              <a:spcAft>
                <a:spcPts val="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</a:rPr>
              <a:t>Course Instructor: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Dr. V. Siva Rama Krishna Sir</a:t>
            </a:r>
            <a:endParaRPr lang="en-IN" kern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0CBAB56-6E85-4B00-8E97-980BEA800AF3}"/>
              </a:ext>
            </a:extLst>
          </p:cNvPr>
          <p:cNvSpPr/>
          <p:nvPr/>
        </p:nvSpPr>
        <p:spPr>
          <a:xfrm>
            <a:off x="-394445" y="5812483"/>
            <a:ext cx="10154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 marR="15875" algn="ctr">
              <a:spcAft>
                <a:spcPts val="0"/>
              </a:spcAft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</a:rPr>
              <a:t>Team no &amp; Project name: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</a:rPr>
              <a:t>13.Library Management system</a:t>
            </a:r>
            <a:endParaRPr lang="en-IN" kern="0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33466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xmlns="" id="{57526808-B921-40BC-B573-1C45CC003D7E}"/>
              </a:ext>
            </a:extLst>
          </p:cNvPr>
          <p:cNvSpPr/>
          <p:nvPr/>
        </p:nvSpPr>
        <p:spPr>
          <a:xfrm>
            <a:off x="396060" y="416158"/>
            <a:ext cx="341471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5875" marR="15875" algn="ctr">
              <a:spcAft>
                <a:spcPts val="0"/>
              </a:spcAft>
            </a:pPr>
            <a:r>
              <a:rPr lang="en-US" sz="4400" b="1" kern="0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</a:rPr>
              <a:t>Team Details:</a:t>
            </a:r>
            <a:endParaRPr lang="en-IN" sz="4400" b="1" kern="0" dirty="0">
              <a:solidFill>
                <a:schemeClr val="accent1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xmlns="" id="{0F988C85-1310-42B4-880E-65FE7EA2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4997436"/>
              </p:ext>
            </p:extLst>
          </p:nvPr>
        </p:nvGraphicFramePr>
        <p:xfrm>
          <a:off x="719329" y="1801905"/>
          <a:ext cx="9258390" cy="41703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86130">
                  <a:extLst>
                    <a:ext uri="{9D8B030D-6E8A-4147-A177-3AD203B41FA5}">
                      <a16:colId xmlns:a16="http://schemas.microsoft.com/office/drawing/2014/main" xmlns="" val="4243852182"/>
                    </a:ext>
                  </a:extLst>
                </a:gridCol>
                <a:gridCol w="3086130">
                  <a:extLst>
                    <a:ext uri="{9D8B030D-6E8A-4147-A177-3AD203B41FA5}">
                      <a16:colId xmlns:a16="http://schemas.microsoft.com/office/drawing/2014/main" xmlns="" val="1003566212"/>
                    </a:ext>
                  </a:extLst>
                </a:gridCol>
                <a:gridCol w="3086130">
                  <a:extLst>
                    <a:ext uri="{9D8B030D-6E8A-4147-A177-3AD203B41FA5}">
                      <a16:colId xmlns:a16="http://schemas.microsoft.com/office/drawing/2014/main" xmlns="" val="3879941475"/>
                    </a:ext>
                  </a:extLst>
                </a:gridCol>
              </a:tblGrid>
              <a:tr h="982535">
                <a:tc>
                  <a:txBody>
                    <a:bodyPr/>
                    <a:lstStyle/>
                    <a:p>
                      <a:r>
                        <a:rPr lang="en-IN" sz="2800" b="1" dirty="0"/>
                        <a:t>Roll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800" b="1" dirty="0"/>
                        <a:t>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60427959"/>
                  </a:ext>
                </a:extLst>
              </a:tr>
              <a:tr h="1027344">
                <a:tc>
                  <a:txBody>
                    <a:bodyPr/>
                    <a:lstStyle/>
                    <a:p>
                      <a:r>
                        <a:rPr lang="en-IN" sz="2400" dirty="0"/>
                        <a:t>123cs0024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Deepanshu </a:t>
                      </a:r>
                      <a:r>
                        <a:rPr lang="en-IN" sz="2400" dirty="0" err="1"/>
                        <a:t>Malakar</a:t>
                      </a:r>
                      <a:r>
                        <a:rPr lang="en-IN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Programming (Team Lead)</a:t>
                      </a:r>
                    </a:p>
                    <a:p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18206561"/>
                  </a:ext>
                </a:extLst>
              </a:tr>
              <a:tr h="588088">
                <a:tc>
                  <a:txBody>
                    <a:bodyPr/>
                    <a:lstStyle/>
                    <a:p>
                      <a:r>
                        <a:rPr lang="en-IN" sz="2400" dirty="0"/>
                        <a:t>523cs0006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Aman </a:t>
                      </a:r>
                      <a:r>
                        <a:rPr lang="en-IN" sz="2400" dirty="0" err="1"/>
                        <a:t>Jella</a:t>
                      </a:r>
                      <a:r>
                        <a:rPr lang="en-IN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Design &amp; Documentation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44015157"/>
                  </a:ext>
                </a:extLst>
              </a:tr>
              <a:tr h="588088">
                <a:tc>
                  <a:txBody>
                    <a:bodyPr/>
                    <a:lstStyle/>
                    <a:p>
                      <a:r>
                        <a:rPr lang="en-IN" sz="2400" dirty="0"/>
                        <a:t>123cs0056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Kumar Bhaskar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Backend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899021118"/>
                  </a:ext>
                </a:extLst>
              </a:tr>
              <a:tr h="588088">
                <a:tc>
                  <a:txBody>
                    <a:bodyPr/>
                    <a:lstStyle/>
                    <a:p>
                      <a:r>
                        <a:rPr lang="en-IN" sz="2400" dirty="0"/>
                        <a:t>523cs0019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 err="1"/>
                        <a:t>Jayarusha</a:t>
                      </a:r>
                      <a:r>
                        <a:rPr lang="en-IN" sz="2400" dirty="0"/>
                        <a:t> K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Frontend Programming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25868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196629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5D821030-A3DD-4B22-8410-39B904DE0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2" y="448236"/>
            <a:ext cx="11609294" cy="46437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4400" b="1" dirty="0">
                <a:solidFill>
                  <a:schemeClr val="accent1"/>
                </a:solidFill>
              </a:rPr>
              <a:t>Description</a:t>
            </a:r>
            <a:r>
              <a:rPr lang="en-IN" sz="4400" dirty="0">
                <a:solidFill>
                  <a:schemeClr val="accent1"/>
                </a:solidFill>
              </a:rPr>
              <a:t>:</a:t>
            </a:r>
          </a:p>
          <a:p>
            <a:pPr marL="0" indent="0">
              <a:buNone/>
            </a:pPr>
            <a:endParaRPr lang="en-IN" sz="4400" dirty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US" dirty="0"/>
              <a:t>                 This document details the design and implementation of the Library Management System (LMS) — a full-featured desktop application to automate and modernize all library operations. It outlines the objectives, features, technical architecture, and advantages of LMS, serving as a comprehensive guide for development, testing, and deployment. The system aims to digitize and streamline library processes, offering a user-friendly interface for students, faculty, scholars, and librarians.</a:t>
            </a:r>
          </a:p>
        </p:txBody>
      </p:sp>
    </p:spTree>
    <p:extLst>
      <p:ext uri="{BB962C8B-B14F-4D97-AF65-F5344CB8AC3E}">
        <p14:creationId xmlns:p14="http://schemas.microsoft.com/office/powerpoint/2010/main" xmlns="" val="19833051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D907158-5E2B-48B8-BEF6-9B934B28B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107577"/>
            <a:ext cx="10216654" cy="1344705"/>
          </a:xfrm>
          <a:solidFill>
            <a:schemeClr val="bg1"/>
          </a:solidFill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+mn-lt"/>
              </a:rPr>
              <a:t>Table of Contents: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22854E8-43A2-4051-B7DC-59E00C5C4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2282"/>
            <a:ext cx="10515600" cy="4724681"/>
          </a:xfrm>
          <a:ln>
            <a:solidFill>
              <a:schemeClr val="bg1"/>
            </a:solidFill>
          </a:ln>
        </p:spPr>
        <p:txBody>
          <a:bodyPr>
            <a:normAutofit fontScale="85000" lnSpcReduction="20000"/>
          </a:bodyPr>
          <a:lstStyle/>
          <a:p>
            <a:r>
              <a:rPr lang="en-US" b="1" dirty="0"/>
              <a:t>Introduction</a:t>
            </a:r>
          </a:p>
          <a:p>
            <a:r>
              <a:rPr lang="en-US" b="1" dirty="0"/>
              <a:t>Project Overview</a:t>
            </a:r>
          </a:p>
          <a:p>
            <a:r>
              <a:rPr lang="en-US" b="1" dirty="0"/>
              <a:t>Features and Functionalities  </a:t>
            </a:r>
          </a:p>
          <a:p>
            <a:pPr marL="0" indent="0">
              <a:buNone/>
            </a:pPr>
            <a:r>
              <a:rPr lang="en-US" b="1" dirty="0"/>
              <a:t>     a. For Students  </a:t>
            </a:r>
          </a:p>
          <a:p>
            <a:pPr marL="0" indent="0">
              <a:buNone/>
            </a:pPr>
            <a:r>
              <a:rPr lang="en-US" b="1" dirty="0"/>
              <a:t>     b. For Faculty  </a:t>
            </a:r>
          </a:p>
          <a:p>
            <a:pPr marL="0" indent="0">
              <a:buNone/>
            </a:pPr>
            <a:r>
              <a:rPr lang="en-US" b="1" dirty="0"/>
              <a:t>     c. For Research Scholars  </a:t>
            </a:r>
          </a:p>
          <a:p>
            <a:pPr marL="0" indent="0">
              <a:buNone/>
            </a:pPr>
            <a:r>
              <a:rPr lang="en-US" b="1" dirty="0"/>
              <a:t>     d. For Librarian (Admin) </a:t>
            </a:r>
          </a:p>
          <a:p>
            <a:r>
              <a:rPr lang="en-US" b="1" dirty="0"/>
              <a:t>Technology Stack </a:t>
            </a:r>
          </a:p>
          <a:p>
            <a:r>
              <a:rPr lang="en-US" b="1" dirty="0"/>
              <a:t>System Architecture</a:t>
            </a:r>
          </a:p>
          <a:p>
            <a:r>
              <a:rPr lang="en-US" b="1" dirty="0"/>
              <a:t> Advantages of LMS Software </a:t>
            </a:r>
          </a:p>
          <a:p>
            <a:r>
              <a:rPr lang="en-US" b="1" dirty="0"/>
              <a:t>Testing and Security description </a:t>
            </a:r>
          </a:p>
          <a:p>
            <a:r>
              <a:rPr lang="en-US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xmlns="" val="601414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0991B47-F84D-47DD-8118-44C98C78F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326823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1.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10DC74-8F2C-4F4E-A2A1-947CD5E19A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5340"/>
            <a:ext cx="10515600" cy="34783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Library Management System (LMS) is a </a:t>
            </a:r>
            <a:r>
              <a:rPr lang="en-US" sz="2400" b="1" dirty="0"/>
              <a:t>desktop-based application </a:t>
            </a:r>
            <a:r>
              <a:rPr lang="en-US" sz="2400" dirty="0"/>
              <a:t>designed to automate the manual processes of library operations. It serves as a centralized platform that </a:t>
            </a:r>
            <a:r>
              <a:rPr lang="en-US" sz="2400" b="1" dirty="0"/>
              <a:t>enables book issuing, returning, and reserving </a:t>
            </a:r>
            <a:r>
              <a:rPr lang="en-US" sz="2400" dirty="0"/>
              <a:t>while maintaining </a:t>
            </a:r>
            <a:r>
              <a:rPr lang="en-US" sz="2400" b="1" dirty="0"/>
              <a:t>detailed records of members, transactions, and fines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In addition to the basic library functionalities, the system includes </a:t>
            </a:r>
            <a:r>
              <a:rPr lang="en-US" sz="2400" b="1" dirty="0"/>
              <a:t>a dedicated AI-powered Study </a:t>
            </a:r>
            <a:r>
              <a:rPr lang="en-US" sz="2400" b="1" dirty="0" smtClean="0"/>
              <a:t>Section </a:t>
            </a:r>
            <a:r>
              <a:rPr lang="en-US" sz="2400" b="1" dirty="0"/>
              <a:t>and get AI-based assistance for academic queries.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The LMS enhances library </a:t>
            </a:r>
            <a:r>
              <a:rPr lang="en-US" sz="2400" b="1" dirty="0"/>
              <a:t>productivity</a:t>
            </a:r>
            <a:r>
              <a:rPr lang="en-US" sz="2400" dirty="0"/>
              <a:t>, ensures </a:t>
            </a:r>
            <a:r>
              <a:rPr lang="en-US" sz="2400" b="1" dirty="0"/>
              <a:t>data security</a:t>
            </a:r>
            <a:r>
              <a:rPr lang="en-US" sz="2400" dirty="0"/>
              <a:t>, minimizes </a:t>
            </a:r>
            <a:r>
              <a:rPr lang="en-US" sz="2400" b="1" dirty="0"/>
              <a:t>human error</a:t>
            </a:r>
            <a:r>
              <a:rPr lang="en-US" sz="2400" dirty="0"/>
              <a:t>, and provides a </a:t>
            </a:r>
            <a:r>
              <a:rPr lang="en-US" sz="2400" b="1" dirty="0"/>
              <a:t>scalable, efficient solution </a:t>
            </a:r>
            <a:r>
              <a:rPr lang="en-US" sz="2400" dirty="0"/>
              <a:t>for academic institutions.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32049562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70D72C2-D403-429D-A92C-1155DE80F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964" y="361843"/>
            <a:ext cx="10364451" cy="1072171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+mn-lt"/>
              </a:rPr>
              <a:t>2.Project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BEEF7BC-A72F-4FFD-A8DC-AE19E8DDE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964" y="1376112"/>
            <a:ext cx="10968789" cy="462087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The Library Management System streamlines all tasks that are traditionally handled manually — such as cataloging, issuing, returning, and reporting. Its main objective is to reduce human effort, save time, and improve accessibility for every user involved in library operations. </a:t>
            </a:r>
          </a:p>
          <a:p>
            <a:pPr marL="0" indent="0">
              <a:buNone/>
            </a:pPr>
            <a:r>
              <a:rPr lang="en-US" sz="2400" dirty="0"/>
              <a:t>Key Objectives: </a:t>
            </a:r>
          </a:p>
          <a:p>
            <a:r>
              <a:rPr lang="en-IN" sz="2400" b="1" dirty="0"/>
              <a:t>Automation⚙️</a:t>
            </a:r>
            <a:r>
              <a:rPr lang="en-IN" sz="2400" dirty="0"/>
              <a:t>: </a:t>
            </a:r>
            <a:r>
              <a:rPr lang="en-US" sz="2400" dirty="0"/>
              <a:t>Automate the complete library process. </a:t>
            </a:r>
          </a:p>
          <a:p>
            <a:r>
              <a:rPr lang="en-IN" sz="2400" b="1" dirty="0"/>
              <a:t>Security🔒</a:t>
            </a:r>
            <a:r>
              <a:rPr lang="en-IN" sz="2400" dirty="0"/>
              <a:t> : </a:t>
            </a:r>
            <a:r>
              <a:rPr lang="en-US" sz="2400" dirty="0"/>
              <a:t>Provide secure, role-based login access. </a:t>
            </a:r>
          </a:p>
          <a:p>
            <a:r>
              <a:rPr lang="en-US" sz="2400" b="1" dirty="0"/>
              <a:t>Maintain real-time data </a:t>
            </a:r>
            <a:r>
              <a:rPr lang="en-US" sz="2400" dirty="0"/>
              <a:t>on books, users, and fines. </a:t>
            </a:r>
          </a:p>
          <a:p>
            <a:r>
              <a:rPr lang="en-US" sz="2400" b="1" dirty="0"/>
              <a:t>Enable </a:t>
            </a:r>
            <a:r>
              <a:rPr lang="en-US" sz="2400" b="1"/>
              <a:t>fast </a:t>
            </a:r>
            <a:r>
              <a:rPr lang="en-US" sz="2400" b="1" smtClean="0"/>
              <a:t>search </a:t>
            </a:r>
            <a:r>
              <a:rPr lang="en-US" sz="2400" b="1" dirty="0"/>
              <a:t>and notifications. </a:t>
            </a:r>
          </a:p>
          <a:p>
            <a:r>
              <a:rPr lang="en-US" sz="2400" b="1" dirty="0"/>
              <a:t>Smart Learning </a:t>
            </a:r>
            <a:r>
              <a:rPr lang="en-IN" sz="2400" b="1" dirty="0"/>
              <a:t>💡</a:t>
            </a:r>
            <a:r>
              <a:rPr lang="en-IN" sz="2400" dirty="0"/>
              <a:t>: </a:t>
            </a:r>
            <a:r>
              <a:rPr lang="en-US" sz="2400" dirty="0"/>
              <a:t>Offer an integrated study and learning platform. </a:t>
            </a:r>
          </a:p>
          <a:p>
            <a:r>
              <a:rPr lang="en-US" sz="2400" b="1" dirty="0"/>
              <a:t>Reporting </a:t>
            </a:r>
            <a:r>
              <a:rPr lang="en-IN" sz="2400" b="1" dirty="0"/>
              <a:t>📊 </a:t>
            </a:r>
            <a:r>
              <a:rPr lang="en-IN" sz="2400" dirty="0"/>
              <a:t>: </a:t>
            </a:r>
            <a:r>
              <a:rPr lang="en-US" sz="2400" dirty="0"/>
              <a:t>Generate reports and analytics for administrative review. </a:t>
            </a:r>
          </a:p>
          <a:p>
            <a:pPr marL="0" indent="0">
              <a:buNone/>
            </a:pPr>
            <a:r>
              <a:rPr lang="en-US" sz="2400" dirty="0"/>
              <a:t>By integrating Python, MySQL, and AI technologies, LMS ensures reliability, speed, and an enhanced user experience.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3928699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CCF421E6-9E7C-434D-9F6C-6D2583114D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10515600" cy="1147762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+mn-lt"/>
              </a:rPr>
              <a:t>3. Features and Functionalities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9DA685ED-F844-4B82-BEE0-5BDCFAD932FE}"/>
              </a:ext>
            </a:extLst>
          </p:cNvPr>
          <p:cNvSpPr txBox="1"/>
          <p:nvPr/>
        </p:nvSpPr>
        <p:spPr>
          <a:xfrm>
            <a:off x="219640" y="1263649"/>
            <a:ext cx="5635728" cy="52322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For</a:t>
            </a:r>
            <a:r>
              <a:rPr lang="en-US" sz="2800" dirty="0"/>
              <a:t> </a:t>
            </a:r>
            <a:r>
              <a:rPr lang="en-US" sz="2800" b="1" dirty="0"/>
              <a:t>Student</a:t>
            </a:r>
            <a:r>
              <a:rPr lang="en-IN" sz="2800" dirty="0"/>
              <a:t> 🧑‍🎓 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Role-based secure login and personalized dashboard.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Search and filter books by title, author, or category. Issue, return, and reserve up to 4 books at a time.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 reminders for return dates and fines.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issue history and reissue previous books.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Access AI Study Section: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Ask AI questions for self-learning assistance.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Donate or request new books.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Mark books as </a:t>
            </a:r>
            <a:r>
              <a:rPr lang="en-US" dirty="0" err="1"/>
              <a:t>favourites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xmlns="" id="{23BD27A3-13FA-429A-A52A-3B0ABBDAE1E1}"/>
              </a:ext>
            </a:extLst>
          </p:cNvPr>
          <p:cNvSpPr txBox="1"/>
          <p:nvPr/>
        </p:nvSpPr>
        <p:spPr>
          <a:xfrm>
            <a:off x="6769770" y="1263649"/>
            <a:ext cx="343301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 Faculty</a:t>
            </a:r>
            <a:r>
              <a:rPr lang="en-IN" sz="2400" b="1" dirty="0"/>
              <a:t> 👨‍🏫 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Role-based login with advanced search and reservation options.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Track borrowing and fine history. Request addition of new reference materials to the library.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xmlns="" val="590398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CCF421E6-9E7C-434D-9F6C-6D2583114D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115888"/>
            <a:ext cx="10515600" cy="1147762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+mn-lt"/>
              </a:rPr>
              <a:t>3. Features and Functionalities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xmlns="" id="{D72E4C26-958D-41A8-B58D-A8FA728A6D73}"/>
              </a:ext>
            </a:extLst>
          </p:cNvPr>
          <p:cNvSpPr txBox="1"/>
          <p:nvPr/>
        </p:nvSpPr>
        <p:spPr>
          <a:xfrm>
            <a:off x="501674" y="1576750"/>
            <a:ext cx="522535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 Scholar</a:t>
            </a:r>
            <a:r>
              <a:rPr lang="en-IN" sz="2400" b="1" dirty="0"/>
              <a:t> 🔬 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Extended privileges for book borrowing (subject to faculty approval).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Long-term reservation and tracking of reference materials.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Collaborate in the AI-assisted doubt discussion forum.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Participate in the Doubt Section to solve student queries</a:t>
            </a:r>
            <a:r>
              <a:rPr lang="en-US" sz="1600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xmlns="" id="{B5272CEF-8A48-4B1D-A441-6A1F91117261}"/>
              </a:ext>
            </a:extLst>
          </p:cNvPr>
          <p:cNvSpPr txBox="1"/>
          <p:nvPr/>
        </p:nvSpPr>
        <p:spPr>
          <a:xfrm>
            <a:off x="7010400" y="1012664"/>
            <a:ext cx="4106777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For Librarian: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Add, edit, or remove books from the system.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Manage user accounts, roles, and permissions.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Generate and export reports  of transactions, fines, and usage. 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Oversee fine collection and payment validation.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Backup and restore database to ensure data safety.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View analytics dashboards for library statistics and trends.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67122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9315BF7-F90A-4AA2-A37F-E353EBDC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418" y="355285"/>
            <a:ext cx="10515600" cy="896470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4. </a:t>
            </a:r>
            <a:r>
              <a:rPr lang="en-IN" b="1" dirty="0">
                <a:solidFill>
                  <a:schemeClr val="accent1"/>
                </a:solidFill>
                <a:latin typeface="+mn-lt"/>
              </a:rPr>
              <a:t>Technology</a:t>
            </a:r>
            <a:r>
              <a:rPr lang="en-IN" b="1" dirty="0">
                <a:solidFill>
                  <a:schemeClr val="accent1"/>
                </a:solidFill>
              </a:rPr>
              <a:t> Stack 🛠️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xmlns="" id="{DC8B3FD1-AD04-4FE7-8A6C-1411DA5453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3204038065"/>
              </p:ext>
            </p:extLst>
          </p:nvPr>
        </p:nvGraphicFramePr>
        <p:xfrm>
          <a:off x="719418" y="1617421"/>
          <a:ext cx="10753164" cy="429409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3584388">
                  <a:extLst>
                    <a:ext uri="{9D8B030D-6E8A-4147-A177-3AD203B41FA5}">
                      <a16:colId xmlns:a16="http://schemas.microsoft.com/office/drawing/2014/main" xmlns="" val="869248988"/>
                    </a:ext>
                  </a:extLst>
                </a:gridCol>
                <a:gridCol w="3584388">
                  <a:extLst>
                    <a:ext uri="{9D8B030D-6E8A-4147-A177-3AD203B41FA5}">
                      <a16:colId xmlns:a16="http://schemas.microsoft.com/office/drawing/2014/main" xmlns="" val="2160949845"/>
                    </a:ext>
                  </a:extLst>
                </a:gridCol>
                <a:gridCol w="3584388">
                  <a:extLst>
                    <a:ext uri="{9D8B030D-6E8A-4147-A177-3AD203B41FA5}">
                      <a16:colId xmlns:a16="http://schemas.microsoft.com/office/drawing/2014/main" xmlns="" val="1621679928"/>
                    </a:ext>
                  </a:extLst>
                </a:gridCol>
              </a:tblGrid>
              <a:tr h="454303">
                <a:tc>
                  <a:txBody>
                    <a:bodyPr/>
                    <a:lstStyle/>
                    <a:p>
                      <a:r>
                        <a:rPr lang="en-IN" b="1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Technology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58017385"/>
                  </a:ext>
                </a:extLst>
              </a:tr>
              <a:tr h="454303">
                <a:tc>
                  <a:txBody>
                    <a:bodyPr/>
                    <a:lstStyle/>
                    <a:p>
                      <a:r>
                        <a:rPr lang="en-IN" dirty="0"/>
                        <a:t>Frontend 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(</a:t>
                      </a:r>
                      <a:r>
                        <a:rPr lang="en-IN" dirty="0" err="1"/>
                        <a:t>Tkinter</a:t>
                      </a:r>
                      <a:r>
                        <a:rPr lang="en-IN" dirty="0"/>
                        <a:t>, </a:t>
                      </a:r>
                      <a:r>
                        <a:rPr lang="en-IN" dirty="0" err="1"/>
                        <a:t>CustomTkinter</a:t>
                      </a:r>
                      <a:r>
                        <a:rPr lang="en-IN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Graphical user interface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252419195"/>
                  </a:ext>
                </a:extLst>
              </a:tr>
              <a:tr h="454303">
                <a:tc>
                  <a:txBody>
                    <a:bodyPr/>
                    <a:lstStyle/>
                    <a:p>
                      <a:r>
                        <a:rPr lang="en-IN" dirty="0"/>
                        <a:t>Backend ⚙️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, </a:t>
                      </a:r>
                      <a:r>
                        <a:rPr lang="en-IN" dirty="0" err="1"/>
                        <a:t>mysql</a:t>
                      </a:r>
                      <a:r>
                        <a:rPr lang="en-IN" dirty="0"/>
                        <a:t>-connector-python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Business logic, API, and data control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512898963"/>
                  </a:ext>
                </a:extLst>
              </a:tr>
              <a:tr h="454303">
                <a:tc>
                  <a:txBody>
                    <a:bodyPr/>
                    <a:lstStyle/>
                    <a:p>
                      <a:r>
                        <a:rPr lang="en-IN" dirty="0"/>
                        <a:t>Database🗄️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MySQL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storage and management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67761863"/>
                  </a:ext>
                </a:extLst>
              </a:tr>
              <a:tr h="784139">
                <a:tc>
                  <a:txBody>
                    <a:bodyPr/>
                    <a:lstStyle/>
                    <a:p>
                      <a:r>
                        <a:rPr lang="en-IN" dirty="0"/>
                        <a:t>AI Engine🤖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NLP, Gemini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Study assistant and recommendations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105542868"/>
                  </a:ext>
                </a:extLst>
              </a:tr>
              <a:tr h="784139">
                <a:tc>
                  <a:txBody>
                    <a:bodyPr/>
                    <a:lstStyle/>
                    <a:p>
                      <a:r>
                        <a:rPr lang="en-IN" dirty="0"/>
                        <a:t>Version Control🔄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Git, GitHub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Source management and CI/CD integration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836902576"/>
                  </a:ext>
                </a:extLst>
              </a:tr>
              <a:tr h="454303">
                <a:tc>
                  <a:txBody>
                    <a:bodyPr/>
                    <a:lstStyle/>
                    <a:p>
                      <a:r>
                        <a:rPr lang="en-US" dirty="0"/>
                        <a:t>Operating System</a:t>
                      </a:r>
                      <a:r>
                        <a:rPr lang="en-IN" dirty="0"/>
                        <a:t>🖥️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Windows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Cross-platform support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287524293"/>
                  </a:ext>
                </a:extLst>
              </a:tr>
              <a:tr h="454303">
                <a:tc>
                  <a:txBody>
                    <a:bodyPr/>
                    <a:lstStyle/>
                    <a:p>
                      <a:r>
                        <a:rPr lang="en-US" dirty="0"/>
                        <a:t>Network Layer</a:t>
                      </a:r>
                      <a:r>
                        <a:rPr lang="en-IN" dirty="0"/>
                        <a:t>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LAN / Wi-Fi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User connectivity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17133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919784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174886-FE04-4530-802B-CCA4CDE6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577"/>
            <a:ext cx="10515600" cy="860611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  <a:latin typeface="+mn-lt"/>
              </a:rPr>
              <a:t>5.System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25AB91E-6D1D-4FBC-B3E2-E17B7FE2F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8189"/>
            <a:ext cx="10515600" cy="417335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LMS follows a 3-tier modular architecture to ensure scalability, maintainability, and security:</a:t>
            </a:r>
          </a:p>
          <a:p>
            <a:pPr marL="0" indent="0">
              <a:buNone/>
            </a:pPr>
            <a:r>
              <a:rPr lang="en-IN" dirty="0"/>
              <a:t>                           </a:t>
            </a:r>
            <a:endParaRPr lang="en-IN" sz="18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xmlns="" id="{11430E66-3A2F-4ABE-B244-142A9AF02F2E}"/>
              </a:ext>
            </a:extLst>
          </p:cNvPr>
          <p:cNvSpPr/>
          <p:nvPr/>
        </p:nvSpPr>
        <p:spPr>
          <a:xfrm>
            <a:off x="941294" y="2008688"/>
            <a:ext cx="2061882" cy="977153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🖥️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xmlns="" id="{F29D142D-5FE3-4887-968E-F8C55D8B4F72}"/>
              </a:ext>
            </a:extLst>
          </p:cNvPr>
          <p:cNvSpPr/>
          <p:nvPr/>
        </p:nvSpPr>
        <p:spPr>
          <a:xfrm>
            <a:off x="941294" y="3216524"/>
            <a:ext cx="2061882" cy="977153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⚙️</a:t>
            </a:r>
            <a:r>
              <a:rPr lang="en-IN" dirty="0"/>
              <a:t>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xmlns="" id="{B829CBD4-093B-47DF-9BF8-B7ED1AC0E801}"/>
              </a:ext>
            </a:extLst>
          </p:cNvPr>
          <p:cNvSpPr/>
          <p:nvPr/>
        </p:nvSpPr>
        <p:spPr>
          <a:xfrm>
            <a:off x="941294" y="4424360"/>
            <a:ext cx="2061882" cy="977153"/>
          </a:xfrm>
          <a:prstGeom prst="chevron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accent1">
                    <a:lumMod val="50000"/>
                  </a:schemeClr>
                </a:solidFill>
              </a:rPr>
              <a:t>🗃️</a:t>
            </a:r>
            <a:r>
              <a:rPr lang="en-IN" dirty="0"/>
              <a:t>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7B49C196-1EB3-49CC-A8FD-B340526EF4FB}"/>
              </a:ext>
            </a:extLst>
          </p:cNvPr>
          <p:cNvSpPr txBox="1"/>
          <p:nvPr/>
        </p:nvSpPr>
        <p:spPr>
          <a:xfrm>
            <a:off x="11647055" y="2650836"/>
            <a:ext cx="24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817A2F0-F7A3-4B53-B35C-69EB2EFB30FE}"/>
              </a:ext>
            </a:extLst>
          </p:cNvPr>
          <p:cNvSpPr txBox="1"/>
          <p:nvPr/>
        </p:nvSpPr>
        <p:spPr>
          <a:xfrm>
            <a:off x="3018525" y="2003777"/>
            <a:ext cx="89656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Presentation Layer(Frontend):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using </a:t>
            </a:r>
            <a:r>
              <a:rPr lang="en-US" dirty="0" err="1"/>
              <a:t>Tkinter</a:t>
            </a:r>
            <a:r>
              <a:rPr lang="en-US" dirty="0"/>
              <a:t> and </a:t>
            </a:r>
            <a:r>
              <a:rPr lang="en-US" dirty="0" err="1"/>
              <a:t>CustomTkinter</a:t>
            </a:r>
            <a:r>
              <a:rPr lang="en-US" dirty="0"/>
              <a:t> for responsive design.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Displays data and interacts directly with the user. 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DC4999E9-A6A5-4770-A26A-6DD4852B37E5}"/>
              </a:ext>
            </a:extLst>
          </p:cNvPr>
          <p:cNvSpPr txBox="1"/>
          <p:nvPr/>
        </p:nvSpPr>
        <p:spPr>
          <a:xfrm rot="10800000" flipV="1">
            <a:off x="3106270" y="3216524"/>
            <a:ext cx="8790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Application Layer (Backend):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Developed with Python to handle logic and transactions.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Processes requests such as issue/return, fine calculation, and authentication.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35F1D810-290F-4FE9-85AC-F605B1E82AE5}"/>
              </a:ext>
            </a:extLst>
          </p:cNvPr>
          <p:cNvSpPr txBox="1"/>
          <p:nvPr/>
        </p:nvSpPr>
        <p:spPr>
          <a:xfrm>
            <a:off x="3106270" y="4424360"/>
            <a:ext cx="8790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Layer (Database):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MySQL used for storing book, user, and transaction data.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Ensures data consistency, security, and backup functionality. 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88026264-8228-4A6C-93CB-D59D5C94F917}"/>
              </a:ext>
            </a:extLst>
          </p:cNvPr>
          <p:cNvSpPr txBox="1"/>
          <p:nvPr/>
        </p:nvSpPr>
        <p:spPr>
          <a:xfrm>
            <a:off x="838201" y="5656729"/>
            <a:ext cx="93277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</a:rPr>
              <a:t>Data Flow Summary:   User → Interface → Backend Logic → Database → Response → UI Update </a:t>
            </a:r>
          </a:p>
        </p:txBody>
      </p:sp>
    </p:spTree>
    <p:extLst>
      <p:ext uri="{BB962C8B-B14F-4D97-AF65-F5344CB8AC3E}">
        <p14:creationId xmlns:p14="http://schemas.microsoft.com/office/powerpoint/2010/main" xmlns="" val="30262595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75E01B9-C86E-40C1-B717-5E378A381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2401"/>
            <a:ext cx="10515600" cy="860611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  <a:latin typeface="+mn-lt"/>
              </a:rPr>
              <a:t>6. Advantages of LMS Software</a:t>
            </a:r>
            <a:endParaRPr lang="en-IN" b="1" dirty="0">
              <a:solidFill>
                <a:schemeClr val="accent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1E2A610-10EE-461F-B813-9114FF1C3F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165" y="1165412"/>
            <a:ext cx="10515600" cy="516367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</a:t>
            </a:r>
            <a:r>
              <a:rPr lang="en-IN" sz="2400" b="1" dirty="0"/>
              <a:t>📚 Complete Automation: </a:t>
            </a:r>
            <a:r>
              <a:rPr lang="en-IN" sz="2400" dirty="0"/>
              <a:t>Eliminates manual operations and reduces </a:t>
            </a:r>
          </a:p>
          <a:p>
            <a:pPr marL="0" indent="0">
              <a:buNone/>
            </a:pPr>
            <a:r>
              <a:rPr lang="en-IN" sz="2400" dirty="0"/>
              <a:t>        workload.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⚡ Efficiency: </a:t>
            </a:r>
            <a:r>
              <a:rPr lang="en-IN" sz="2400" dirty="0"/>
              <a:t>Real-time data updates and instant search results.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🔒 Security: </a:t>
            </a:r>
            <a:r>
              <a:rPr lang="en-IN" sz="2400" dirty="0"/>
              <a:t>login and data access based on roles.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💡 Smart Learning: </a:t>
            </a:r>
            <a:r>
              <a:rPr lang="en-IN" sz="2400" dirty="0"/>
              <a:t>AI integration for study support and query solving.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📈 Analytics &amp; Reporting:</a:t>
            </a:r>
            <a:r>
              <a:rPr lang="en-IN" sz="2400" dirty="0"/>
              <a:t> reports for better library            </a:t>
            </a:r>
          </a:p>
          <a:p>
            <a:pPr marL="0" indent="0">
              <a:buNone/>
            </a:pPr>
            <a:r>
              <a:rPr lang="en-IN" sz="2400" dirty="0"/>
              <a:t>        insights. 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💾 Data Backup: </a:t>
            </a:r>
            <a:r>
              <a:rPr lang="en-IN" sz="2400" dirty="0"/>
              <a:t>Prevents loss through automated recovery through </a:t>
            </a:r>
            <a:r>
              <a:rPr lang="en-IN" sz="2400" dirty="0" err="1"/>
              <a:t>github</a:t>
            </a:r>
            <a:r>
              <a:rPr lang="en-IN" sz="2400" dirty="0"/>
              <a:t>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👥 Scalable user System: </a:t>
            </a:r>
            <a:r>
              <a:rPr lang="en-IN" sz="2400" dirty="0"/>
              <a:t>Handles concurrent users</a:t>
            </a:r>
          </a:p>
          <a:p>
            <a:pPr marL="0" indent="0">
              <a:buNone/>
            </a:pPr>
            <a:r>
              <a:rPr lang="en-IN" sz="2400" dirty="0"/>
              <a:t>        seamlessly.</a:t>
            </a:r>
          </a:p>
          <a:p>
            <a:pPr marL="0" indent="0">
              <a:buNone/>
            </a:pPr>
            <a:r>
              <a:rPr lang="en-IN" sz="2400" dirty="0"/>
              <a:t> </a:t>
            </a:r>
            <a:r>
              <a:rPr lang="en-IN" sz="2400" b="1" dirty="0"/>
              <a:t>🌿 Eco-friendly: </a:t>
            </a:r>
            <a:r>
              <a:rPr lang="en-IN" sz="2400" dirty="0"/>
              <a:t>Reduces paper and record maintenance costs.</a:t>
            </a:r>
          </a:p>
        </p:txBody>
      </p:sp>
    </p:spTree>
    <p:extLst>
      <p:ext uri="{BB962C8B-B14F-4D97-AF65-F5344CB8AC3E}">
        <p14:creationId xmlns:p14="http://schemas.microsoft.com/office/powerpoint/2010/main" xmlns="" val="23344916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1D880EF-1F20-44C7-BC5B-AA8A3883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8941" y="485982"/>
            <a:ext cx="11004176" cy="866274"/>
          </a:xfrm>
        </p:spPr>
        <p:txBody>
          <a:bodyPr>
            <a:normAutofit fontScale="90000"/>
          </a:bodyPr>
          <a:lstStyle/>
          <a:p>
            <a:r>
              <a:rPr lang="en-IN" sz="4900" b="1" dirty="0">
                <a:solidFill>
                  <a:schemeClr val="accent1"/>
                </a:solidFill>
              </a:rPr>
              <a:t>7. Testing &amp; Security DESCRIPTION</a:t>
            </a:r>
            <a:r>
              <a:rPr lang="en-IN" dirty="0"/>
              <a:t/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85A6E57-266F-44DE-9C98-A44B15BCF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270" y="1122947"/>
            <a:ext cx="11483789" cy="5618510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a)Testing:</a:t>
            </a:r>
            <a:endParaRPr lang="en-US" b="1" dirty="0"/>
          </a:p>
          <a:p>
            <a:pPr marL="0" indent="0">
              <a:buNone/>
            </a:pPr>
            <a:r>
              <a:rPr lang="en-US" sz="2400" dirty="0"/>
              <a:t>To ensure high reliability, multiple testing phases were performed: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64CE79C7-02C6-4577-8A25-C1885EFD52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156952829"/>
              </p:ext>
            </p:extLst>
          </p:nvPr>
        </p:nvGraphicFramePr>
        <p:xfrm>
          <a:off x="502024" y="2251320"/>
          <a:ext cx="11161060" cy="3202996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580530">
                  <a:extLst>
                    <a:ext uri="{9D8B030D-6E8A-4147-A177-3AD203B41FA5}">
                      <a16:colId xmlns:a16="http://schemas.microsoft.com/office/drawing/2014/main" xmlns="" val="3335787444"/>
                    </a:ext>
                  </a:extLst>
                </a:gridCol>
                <a:gridCol w="5580530">
                  <a:extLst>
                    <a:ext uri="{9D8B030D-6E8A-4147-A177-3AD203B41FA5}">
                      <a16:colId xmlns:a16="http://schemas.microsoft.com/office/drawing/2014/main" xmlns="" val="3023045174"/>
                    </a:ext>
                  </a:extLst>
                </a:gridCol>
              </a:tblGrid>
              <a:tr h="427164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945921147"/>
                  </a:ext>
                </a:extLst>
              </a:tr>
              <a:tr h="427164">
                <a:tc>
                  <a:txBody>
                    <a:bodyPr/>
                    <a:lstStyle/>
                    <a:p>
                      <a:r>
                        <a:rPr lang="en-IN" b="1" dirty="0"/>
                        <a:t>Unit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Verify logic and functions.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4093069420"/>
                  </a:ext>
                </a:extLst>
              </a:tr>
              <a:tr h="427164">
                <a:tc>
                  <a:txBody>
                    <a:bodyPr/>
                    <a:lstStyle/>
                    <a:p>
                      <a:r>
                        <a:rPr lang="en-IN" b="1" dirty="0"/>
                        <a:t>Integration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Validate backend and API flow.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848522560"/>
                  </a:ext>
                </a:extLst>
              </a:tr>
              <a:tr h="427164">
                <a:tc>
                  <a:txBody>
                    <a:bodyPr/>
                    <a:lstStyle/>
                    <a:p>
                      <a:r>
                        <a:rPr lang="en-IN" b="1" dirty="0"/>
                        <a:t>System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End-to-end GUI workflow tests.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36626129"/>
                  </a:ext>
                </a:extLst>
              </a:tr>
              <a:tr h="427164">
                <a:tc>
                  <a:txBody>
                    <a:bodyPr/>
                    <a:lstStyle/>
                    <a:p>
                      <a:r>
                        <a:rPr lang="en-IN" b="1" dirty="0"/>
                        <a:t>Performance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Load and response time testing.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50680851"/>
                  </a:ext>
                </a:extLst>
              </a:tr>
              <a:tr h="533588">
                <a:tc>
                  <a:txBody>
                    <a:bodyPr/>
                    <a:lstStyle/>
                    <a:p>
                      <a:r>
                        <a:rPr lang="en-IN" b="1" dirty="0"/>
                        <a:t>Database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Validate data accuracy and consistency.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069373841"/>
                  </a:ext>
                </a:extLst>
              </a:tr>
              <a:tr h="533588">
                <a:tc>
                  <a:txBody>
                    <a:bodyPr/>
                    <a:lstStyle/>
                    <a:p>
                      <a:r>
                        <a:rPr lang="en-US" b="1" dirty="0"/>
                        <a:t>Regression Testing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Automated re-testing after code changes.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5154305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656A4293-864E-4A1C-8BC2-B9E46DEFFB27}"/>
              </a:ext>
            </a:extLst>
          </p:cNvPr>
          <p:cNvSpPr txBox="1"/>
          <p:nvPr/>
        </p:nvSpPr>
        <p:spPr>
          <a:xfrm>
            <a:off x="502024" y="5613084"/>
            <a:ext cx="1116105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Results: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Search time: &lt; 2 seconds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Login time: &lt; 1 second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/>
              <a:t>No data loss under heavy concurrent usage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xmlns="" val="3610334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B8A6EB9-98C8-4E98-ABB4-40E3DCAB8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35" y="152402"/>
            <a:ext cx="10905565" cy="1398492"/>
          </a:xfrm>
        </p:spPr>
        <p:txBody>
          <a:bodyPr>
            <a:normAutofit/>
          </a:bodyPr>
          <a:lstStyle/>
          <a:p>
            <a:r>
              <a:rPr lang="en-IN" sz="2800" b="1" dirty="0"/>
              <a:t>b) Security description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xmlns="" id="{EA515E1A-B64B-460B-B275-AEF3D8595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xmlns="" val="796954197"/>
              </p:ext>
            </p:extLst>
          </p:nvPr>
        </p:nvGraphicFramePr>
        <p:xfrm>
          <a:off x="582704" y="1739153"/>
          <a:ext cx="11250708" cy="4078945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5625354">
                  <a:extLst>
                    <a:ext uri="{9D8B030D-6E8A-4147-A177-3AD203B41FA5}">
                      <a16:colId xmlns:a16="http://schemas.microsoft.com/office/drawing/2014/main" xmlns="" val="2688506383"/>
                    </a:ext>
                  </a:extLst>
                </a:gridCol>
                <a:gridCol w="5625354">
                  <a:extLst>
                    <a:ext uri="{9D8B030D-6E8A-4147-A177-3AD203B41FA5}">
                      <a16:colId xmlns:a16="http://schemas.microsoft.com/office/drawing/2014/main" xmlns="" val="879897551"/>
                    </a:ext>
                  </a:extLst>
                </a:gridCol>
              </a:tblGrid>
              <a:tr h="790801">
                <a:tc>
                  <a:txBody>
                    <a:bodyPr/>
                    <a:lstStyle/>
                    <a:p>
                      <a:r>
                        <a:rPr lang="en-IN" b="1" dirty="0"/>
                        <a:t>Security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60699947"/>
                  </a:ext>
                </a:extLst>
              </a:tr>
              <a:tr h="822036">
                <a:tc>
                  <a:txBody>
                    <a:bodyPr/>
                    <a:lstStyle/>
                    <a:p>
                      <a:r>
                        <a:rPr lang="en-IN" b="1" dirty="0"/>
                        <a:t>Authentication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Different dashboards for roles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53403344"/>
                  </a:ext>
                </a:extLst>
              </a:tr>
              <a:tr h="822036">
                <a:tc>
                  <a:txBody>
                    <a:bodyPr/>
                    <a:lstStyle/>
                    <a:p>
                      <a:r>
                        <a:rPr lang="en-IN" b="1" dirty="0"/>
                        <a:t>Encryption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Secures passwords &amp; credentials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039765033"/>
                  </a:ext>
                </a:extLst>
              </a:tr>
              <a:tr h="822036">
                <a:tc>
                  <a:txBody>
                    <a:bodyPr/>
                    <a:lstStyle/>
                    <a:p>
                      <a:r>
                        <a:rPr lang="en-IN" b="1" dirty="0"/>
                        <a:t>Database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User Roles Restricted permissions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739965585"/>
                  </a:ext>
                </a:extLst>
              </a:tr>
              <a:tr h="822036">
                <a:tc>
                  <a:txBody>
                    <a:bodyPr/>
                    <a:lstStyle/>
                    <a:p>
                      <a:r>
                        <a:rPr lang="en-IN" b="1" dirty="0"/>
                        <a:t>Error Logging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Prevents crash due to input errors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4832738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85703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14BDE8C-3DDB-4312-A3C0-A85D0AFBC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882" y="537882"/>
            <a:ext cx="11183471" cy="75303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chemeClr val="accent1"/>
                </a:solidFill>
                <a:latin typeface="+mn-lt"/>
              </a:rPr>
              <a:t>8. Conclusion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562818B-1D4E-4B51-A049-C435EDC672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882" y="1730189"/>
            <a:ext cx="11878236" cy="4589929"/>
          </a:xfrm>
        </p:spPr>
        <p:txBody>
          <a:bodyPr>
            <a:normAutofit/>
          </a:bodyPr>
          <a:lstStyle/>
          <a:p>
            <a:r>
              <a:rPr lang="en-US" sz="2400" dirty="0"/>
              <a:t>The Library Management System (LMS) represents a significant step toward a fully digital library environment. It replaces outdated manual systems with a secure, scalable, and intelligent software application that benefits all stakeholders — librarians, students, faculty, and researchers.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Through its AI-powered study section, multi-role accessibility, and real-time operations, LMS bridges the gap between education and technology. The project showcases comprehensive expertise in software engineering design, backend integration, UI/UX, and testing methodologies.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In conclusion, the LMS project is a complete, modernized library automation solution that supports both academic excellence and institutional efficiency.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18859234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543</TotalTime>
  <Words>1152</Words>
  <Application>Microsoft Office PowerPoint</Application>
  <PresentationFormat>Custom</PresentationFormat>
  <Paragraphs>193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Slide 1</vt:lpstr>
      <vt:lpstr>Slide 2</vt:lpstr>
      <vt:lpstr>Slide 3</vt:lpstr>
      <vt:lpstr>Table of Contents:</vt:lpstr>
      <vt:lpstr>1.Introduction</vt:lpstr>
      <vt:lpstr>2.Project Overview</vt:lpstr>
      <vt:lpstr>3. Features and Functionalities</vt:lpstr>
      <vt:lpstr>3. Features and Functionalities</vt:lpstr>
      <vt:lpstr>4. Technology Stack 🛠️</vt:lpstr>
      <vt:lpstr>5.System Architecture</vt:lpstr>
      <vt:lpstr>6. Advantages of LMS Software</vt:lpstr>
      <vt:lpstr>7. Testing &amp; Security DESCRIPTION </vt:lpstr>
      <vt:lpstr>b) Security description</vt:lpstr>
      <vt:lpstr>8. Conclusion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System(LMS)</dc:title>
  <dc:creator>ADMIN</dc:creator>
  <cp:lastModifiedBy>hp</cp:lastModifiedBy>
  <cp:revision>41</cp:revision>
  <dcterms:created xsi:type="dcterms:W3CDTF">2025-10-26T10:25:06Z</dcterms:created>
  <dcterms:modified xsi:type="dcterms:W3CDTF">2025-11-03T08:53:38Z</dcterms:modified>
</cp:coreProperties>
</file>